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EB Garamond"/>
      <p:regular r:id="rId16"/>
      <p:bold r:id="rId17"/>
      <p:italic r:id="rId18"/>
      <p:boldItalic r:id="rId19"/>
    </p:embeddedFont>
    <p:embeddedFont>
      <p:font typeface="Average"/>
      <p:regular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verage-regular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BGaramond-bold.fntdata"/><Relationship Id="rId16" Type="http://schemas.openxmlformats.org/officeDocument/2006/relationships/font" Target="fonts/EBGaramon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-boldItalic.fntdata"/><Relationship Id="rId6" Type="http://schemas.openxmlformats.org/officeDocument/2006/relationships/slide" Target="slides/slide1.xml"/><Relationship Id="rId18" Type="http://schemas.openxmlformats.org/officeDocument/2006/relationships/font" Target="fonts/EBGaramon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5a58cf56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5a58cf56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5a58cf56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5a58cf56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5a58cf56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5a58cf56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5a58cf56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5a58cf56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5a58cf56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5a58cf56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5a58cf56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5a58cf56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5a58cf56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5a58cf56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5a58cf56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5a58cf56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5a58cf56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5a58cf56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0" y="428650"/>
            <a:ext cx="7801500" cy="20595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EB Garamond"/>
                <a:ea typeface="EB Garamond"/>
                <a:cs typeface="EB Garamond"/>
                <a:sym typeface="EB Garamond"/>
              </a:rPr>
              <a:t>Predicting Sports Injury Occurrence Using Machine Learning Methods and Feature Analysis</a:t>
            </a:r>
            <a:endParaRPr sz="6300"/>
          </a:p>
        </p:txBody>
      </p:sp>
      <p:sp>
        <p:nvSpPr>
          <p:cNvPr id="60" name="Google Shape;60;p13"/>
          <p:cNvSpPr txBox="1"/>
          <p:nvPr/>
        </p:nvSpPr>
        <p:spPr>
          <a:xfrm>
            <a:off x="1628700" y="3595400"/>
            <a:ext cx="5886600" cy="11382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Tyler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Caplinger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, Daniel Hanson, Gavin Jones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Capstone in Business Analytics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April 21, 2025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20515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Motivation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Problem Statement : </a:t>
            </a:r>
            <a:endParaRPr>
              <a:solidFill>
                <a:srgbClr val="FFFFFF"/>
              </a:solidFill>
            </a:endParaRPr>
          </a:p>
          <a:p>
            <a:pPr indent="45720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Use Machine Learning to predict athlete </a:t>
            </a:r>
            <a:r>
              <a:rPr lang="en" sz="2000"/>
              <a:t>injuries based on physiological, biomechanical, and training data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Motivation : </a:t>
            </a:r>
            <a:endParaRPr>
              <a:solidFill>
                <a:schemeClr val="dk1"/>
              </a:solidFill>
            </a:endParaRPr>
          </a:p>
          <a:p>
            <a:pPr indent="45720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Help to keep athletes on the field at all levels so players, coaches, and fans can all continue to thrive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15,420 </a:t>
            </a:r>
            <a:r>
              <a:rPr lang="en"/>
              <a:t>Athlete</a:t>
            </a:r>
            <a:r>
              <a:rPr lang="en"/>
              <a:t> Observations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Target = Injury </a:t>
            </a:r>
            <a:r>
              <a:rPr lang="en"/>
              <a:t>Occurred</a:t>
            </a:r>
            <a:r>
              <a:rPr lang="en"/>
              <a:t> (0=No; 1=Yes)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Injury ~ 85%; Injury ~15%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Training Load -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Training Load, Duration, Intensity, Fatigue Index, Step Count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Physiological -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Heart Rate, Body Temp, Hydration, BMI, Muscle Activity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Performance -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Gait Speed, Cadence, Ground Reaction Force, Joint Angles, Jump Height, Range of Motion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Environment</a:t>
            </a:r>
            <a:r>
              <a:rPr lang="en"/>
              <a:t> -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Ambient Temp, Humidity, Altitude, Playing Surface, Sport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Recovery and Wellness -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Sleep Quality, Stress Levels, Age</a:t>
            </a:r>
            <a:endParaRPr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0515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0515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Selection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1007400"/>
            <a:ext cx="2373300" cy="20976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Small (10)</a:t>
            </a:r>
            <a:endParaRPr sz="1600" u="sng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Fatigue Index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Training Load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Training</a:t>
            </a: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Intensity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Heart Rate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Sleep Quality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Ground Reaction Force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Joint Angles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Ambient </a:t>
            </a: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Temperature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Humidity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Age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307850" y="1007400"/>
            <a:ext cx="2373300" cy="20976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Medium (18)</a:t>
            </a:r>
            <a:endParaRPr sz="1600" u="sng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All of Small + 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Hydration Level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Stress Level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BMI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Gait Speed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Cadence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Range</a:t>
            </a: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of Motion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Training Duration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Playing Surface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6459000" y="1007400"/>
            <a:ext cx="2373300" cy="20976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Large (25)</a:t>
            </a:r>
            <a:endParaRPr sz="1600" u="sng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All of Medium +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Body Temperature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Step Count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Jump Height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Altitude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Gender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verage"/>
              <a:buChar char="-"/>
            </a:pP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Sport</a:t>
            </a:r>
            <a:r>
              <a:rPr lang="en" sz="1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Type</a:t>
            </a:r>
            <a:endParaRPr sz="1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006650" y="4198550"/>
            <a:ext cx="2975700" cy="7356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Best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Performance : Medium Feature Set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261355"/>
            <a:ext cx="2373301" cy="167279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9000" y="3261350"/>
            <a:ext cx="2373301" cy="16728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10040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r>
              <a:rPr lang="en"/>
              <a:t> 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5947775" y="777850"/>
            <a:ext cx="3120000" cy="2286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Decision Trees : 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Accuracy range (76-85)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Error Rate (15%)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Recall (50-62%)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Varying Time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943875" y="777850"/>
            <a:ext cx="3003900" cy="22860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SVM : </a:t>
            </a:r>
            <a:endParaRPr sz="1800" u="sng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Low Accuracy Range (69-86%)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High Error Rate (14-28%)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High Recall (50-72%)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Long training Times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Avg Z score - 13.6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5947775" y="3063850"/>
            <a:ext cx="3120000" cy="19794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Neural</a:t>
            </a:r>
            <a:r>
              <a:rPr lang="en" sz="18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Networks :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Accuracy (85%)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Error Rate (15%)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Recall (51-63%)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Fast Training Time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943875" y="3063850"/>
            <a:ext cx="3003900" cy="19794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Naive Bayes :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High Accuracy (85-86%)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Error Rates (14%)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Recall (50-59%)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Medium Training Time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35575" y="777850"/>
            <a:ext cx="2808300" cy="22860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Ranking Criteria for ML Methods </a:t>
            </a:r>
            <a:endParaRPr sz="15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-"/>
            </a:pPr>
            <a:r>
              <a:rPr lang="en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Macro Recall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-"/>
            </a:pPr>
            <a:r>
              <a:rPr lang="en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Error Rate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-"/>
            </a:pPr>
            <a:r>
              <a:rPr lang="en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Accuracy 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-"/>
            </a:pPr>
            <a:r>
              <a:rPr lang="en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Macro Precision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Macro Recall and Macro Precision Z-Score</a:t>
            </a:r>
            <a:endParaRPr sz="15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Average"/>
              <a:buChar char="-"/>
            </a:pPr>
            <a:r>
              <a:rPr lang="en"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Higher Z Score shows better than average</a:t>
            </a:r>
            <a:endParaRPr sz="13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75" y="3063850"/>
            <a:ext cx="2789876" cy="19794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Bayes : best with Small and Medium, adding features </a:t>
            </a:r>
            <a:r>
              <a:rPr lang="en"/>
              <a:t>increased</a:t>
            </a:r>
            <a:r>
              <a:rPr lang="en"/>
              <a:t>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Neural Networks : large data decreased accuracy and macro while </a:t>
            </a:r>
            <a:r>
              <a:rPr lang="en"/>
              <a:t>increasing</a:t>
            </a:r>
            <a:r>
              <a:rPr lang="en"/>
              <a:t>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Tree : all similar, just large training time variance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SVM : large features increased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Overall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features did not always improve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Medium feature set was most consistent and had growth from small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Medium to large decreased accuracy for all feature sets</a:t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20515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Rankings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1220100"/>
          </a:xfrm>
          <a:prstGeom prst="rect">
            <a:avLst/>
          </a:prstGeom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More features does not </a:t>
            </a:r>
            <a:r>
              <a:rPr lang="en"/>
              <a:t>automatically</a:t>
            </a:r>
            <a:r>
              <a:rPr lang="en"/>
              <a:t> </a:t>
            </a:r>
            <a:r>
              <a:rPr lang="en"/>
              <a:t>increase</a:t>
            </a:r>
            <a:r>
              <a:rPr lang="en"/>
              <a:t> performance or accuracy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Recall is essential in </a:t>
            </a:r>
            <a:r>
              <a:rPr lang="en"/>
              <a:t>injury</a:t>
            </a:r>
            <a:r>
              <a:rPr lang="en"/>
              <a:t> prediction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Machine Learning identifies patterns in athlete data that are not visible in traditional analysis</a:t>
            </a:r>
            <a:endParaRPr/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20515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24975"/>
            <a:ext cx="4102631" cy="2466125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656" y="2524975"/>
            <a:ext cx="4102631" cy="24661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32175"/>
            <a:ext cx="8520600" cy="3416400"/>
          </a:xfrm>
          <a:prstGeom prst="rect">
            <a:avLst/>
          </a:prstGeom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Choosing the right criteria for our study was challenging due to the large number of possible predictors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We had to determine which variables were actually relevant to injury prediction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Our dataset was complex, including physiological, biomechanical, environmental, and training factors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Some variables added little value and could reduce model performance by adding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We tested different feature sets (25, 18, 10 predictors) to balance accuracy and simplicity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Data cleaning was completed using Ohio Supercomputer MATLAB processing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Our focus was ensuring the data was properly structured and ready for modeling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This process showed how important feature selection and clean data are for strong model performance</a:t>
            </a:r>
            <a:endParaRPr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20515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250850" y="1152475"/>
            <a:ext cx="8520600" cy="3493200"/>
          </a:xfrm>
          <a:prstGeom prst="rect">
            <a:avLst/>
          </a:prstGeom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41948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2550"/>
              <a:t>Learned how feature selection </a:t>
            </a:r>
            <a:r>
              <a:rPr lang="en" sz="2550"/>
              <a:t>impacts model performance</a:t>
            </a:r>
            <a:endParaRPr sz="2550"/>
          </a:p>
          <a:p>
            <a:pPr indent="-34194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/>
              <a:t>Developed a stronger understanding of recall, precision, and accuracy</a:t>
            </a:r>
            <a:endParaRPr sz="2550"/>
          </a:p>
          <a:p>
            <a:pPr indent="-34194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/>
              <a:t>Gained experience in data cleaning and data preparation</a:t>
            </a:r>
            <a:endParaRPr sz="2550"/>
          </a:p>
          <a:p>
            <a:pPr indent="-34194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/>
              <a:t>Improved ability to interpret model results and apply them to real-world insights</a:t>
            </a:r>
            <a:endParaRPr sz="2550"/>
          </a:p>
          <a:p>
            <a:pPr indent="-34194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550"/>
              <a:t>Learned to evaluate tradeoffs between model complexity and performance </a:t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20515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Gained / Lessons Learned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42325"/>
            <a:ext cx="8520600" cy="3747300"/>
          </a:xfrm>
          <a:prstGeom prst="rect">
            <a:avLst/>
          </a:prstGeom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24"/>
              <a:t>• Feature selection plays a major role in model success - choosing relevant variables reduces noise and improves pattern detection</a:t>
            </a:r>
            <a:endParaRPr sz="262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24"/>
              <a:t>• Recall becomes one of the most important metrics in this type of project. It is calculated as:</a:t>
            </a:r>
            <a:br>
              <a:rPr lang="en" sz="2624"/>
            </a:br>
            <a:r>
              <a:rPr lang="en" sz="2624"/>
              <a:t> Recall = true positives / (true positives + false negatives)</a:t>
            </a:r>
            <a:br>
              <a:rPr lang="en" sz="2624"/>
            </a:br>
            <a:r>
              <a:rPr lang="en" sz="2624"/>
              <a:t> and measures how well the model identifies actual positive cases</a:t>
            </a:r>
            <a:endParaRPr sz="262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24"/>
              <a:t>• A higher recall means fewer missed injuries, making it the most important takeaway </a:t>
            </a:r>
            <a:endParaRPr sz="2624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24"/>
              <a:t>• There are real tradeoffs between model complexity and performance - too many </a:t>
            </a:r>
            <a:r>
              <a:rPr lang="en" sz="2624"/>
              <a:t>features</a:t>
            </a:r>
            <a:r>
              <a:rPr lang="en" sz="2624"/>
              <a:t> adds noise and too few reduced predictive power</a:t>
            </a:r>
            <a:endParaRPr sz="2624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295"/>
              <a:t>Overall, these results show that effective feature selection and a focus on recall are critical for accurate </a:t>
            </a:r>
            <a:r>
              <a:rPr b="1" lang="en" sz="3295"/>
              <a:t>sports injury prediction</a:t>
            </a:r>
            <a:endParaRPr b="1" sz="32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205150"/>
            <a:ext cx="8520600" cy="572700"/>
          </a:xfrm>
          <a:prstGeom prst="rect">
            <a:avLst/>
          </a:prstGeom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